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" charset="1" panose="00000500000000000000"/>
      <p:regular r:id="rId17"/>
    </p:embeddedFon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24"/>
    </p:embeddedFont>
    <p:embeddedFont>
      <p:font typeface="Montserrat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7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5.jpe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0.jpe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76552" y="2307460"/>
            <a:ext cx="11734895" cy="5672080"/>
            <a:chOff x="0" y="0"/>
            <a:chExt cx="15646527" cy="756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46527" cy="7562723"/>
            </a:xfrm>
            <a:custGeom>
              <a:avLst/>
              <a:gdLst/>
              <a:ahLst/>
              <a:cxnLst/>
              <a:rect r="r" b="b" t="t" l="l"/>
              <a:pathLst>
                <a:path h="7562723" w="15646527">
                  <a:moveTo>
                    <a:pt x="0" y="0"/>
                  </a:moveTo>
                  <a:lnTo>
                    <a:pt x="15646527" y="0"/>
                  </a:lnTo>
                  <a:lnTo>
                    <a:pt x="15646527" y="7562723"/>
                  </a:lnTo>
                  <a:lnTo>
                    <a:pt x="0" y="7562723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187380" y="4205564"/>
            <a:ext cx="5913239" cy="107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7"/>
              </a:lnSpc>
            </a:pPr>
            <a:r>
              <a:rPr lang="en-US" sz="83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HELPDESK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2634" y="5880421"/>
            <a:ext cx="10422731" cy="5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SISTEMA DE GESTÃO DE SUPORTE TÉCNICO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5766" y="6825491"/>
            <a:ext cx="603646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Trabalho de Conclusão de Curso | TADS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2668" y="544068"/>
            <a:ext cx="16742664" cy="8170164"/>
            <a:chOff x="0" y="0"/>
            <a:chExt cx="22323552" cy="10893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3552" cy="10893552"/>
            </a:xfrm>
            <a:custGeom>
              <a:avLst/>
              <a:gdLst/>
              <a:ahLst/>
              <a:cxnLst/>
              <a:rect r="r" b="b" t="t" l="l"/>
              <a:pathLst>
                <a:path h="10893552" w="22323552">
                  <a:moveTo>
                    <a:pt x="0" y="0"/>
                  </a:moveTo>
                  <a:lnTo>
                    <a:pt x="22323552" y="0"/>
                  </a:lnTo>
                  <a:lnTo>
                    <a:pt x="22323552" y="10893552"/>
                  </a:lnTo>
                  <a:lnTo>
                    <a:pt x="0" y="1089355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85875" y="1631004"/>
            <a:ext cx="15716250" cy="79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DESAFIOS NA GESTÃO DE SUPORTE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85875" y="3091510"/>
            <a:ext cx="428625" cy="342900"/>
            <a:chOff x="0" y="0"/>
            <a:chExt cx="571500" cy="4572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83" r="0" b="-208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57375" y="3063535"/>
            <a:ext cx="4221956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FALTA DE VISIBILIDADE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5875" y="3481445"/>
            <a:ext cx="7715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Dificuldade em identificar chamados abertos, atrasados ou urgentes em meio a processos manuais.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9750" y="3063535"/>
            <a:ext cx="5704284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COMUNICAÇÃO FRAGMENTADA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86875" y="3481445"/>
            <a:ext cx="7715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Informações espalhadas em mensagens e e-mails, dificultando a auditoria e o histórico do atendimento.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85875" y="4938170"/>
            <a:ext cx="342900" cy="342900"/>
            <a:chOff x="0" y="0"/>
            <a:chExt cx="457200" cy="4572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71650" y="4910195"/>
            <a:ext cx="3982641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PRAZOS INDEFINIDOS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5328104"/>
            <a:ext cx="7715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Ausência de SLAs (Acordos de Nível de Serviço) claros, resultando em insatisfação do cliente.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86875" y="4938170"/>
            <a:ext cx="342900" cy="342900"/>
            <a:chOff x="0" y="0"/>
            <a:chExt cx="457200" cy="4572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83" r="0" b="-2083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72650" y="4910195"/>
            <a:ext cx="3443288" cy="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DESORGANIZAÇÃO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6875" y="5328104"/>
            <a:ext cx="77152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Pouco controle sobre categorias, prioridades e responsabilidades da equipe técnica.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9793" y="401193"/>
            <a:ext cx="17028414" cy="7884414"/>
            <a:chOff x="0" y="0"/>
            <a:chExt cx="22704552" cy="10512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04552" cy="10512552"/>
            </a:xfrm>
            <a:custGeom>
              <a:avLst/>
              <a:gdLst/>
              <a:ahLst/>
              <a:cxnLst/>
              <a:rect r="r" b="b" t="t" l="l"/>
              <a:pathLst>
                <a:path h="10512552" w="22704552">
                  <a:moveTo>
                    <a:pt x="0" y="0"/>
                  </a:moveTo>
                  <a:lnTo>
                    <a:pt x="22704552" y="0"/>
                  </a:lnTo>
                  <a:lnTo>
                    <a:pt x="22704552" y="10512552"/>
                  </a:lnTo>
                  <a:lnTo>
                    <a:pt x="0" y="1051255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85875" y="1345254"/>
            <a:ext cx="15716250" cy="79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A SOLUÇÃO: HELPDESK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67587" y="2749972"/>
            <a:ext cx="679237" cy="893826"/>
            <a:chOff x="0" y="0"/>
            <a:chExt cx="905650" cy="11917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5637" cy="1191768"/>
            </a:xfrm>
            <a:custGeom>
              <a:avLst/>
              <a:gdLst/>
              <a:ahLst/>
              <a:cxnLst/>
              <a:rect r="r" b="b" t="t" l="l"/>
              <a:pathLst>
                <a:path h="1191768" w="905637">
                  <a:moveTo>
                    <a:pt x="0" y="0"/>
                  </a:moveTo>
                  <a:lnTo>
                    <a:pt x="905637" y="0"/>
                  </a:lnTo>
                  <a:lnTo>
                    <a:pt x="905637" y="1191768"/>
                  </a:lnTo>
                  <a:lnTo>
                    <a:pt x="0" y="1191768"/>
                  </a:lnTo>
                  <a:close/>
                </a:path>
              </a:pathLst>
            </a:custGeom>
            <a:solidFill>
              <a:srgbClr val="004AAD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2102387" y="3082585"/>
            <a:ext cx="6898738" cy="38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FLUXO ESTRUTURADO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02387" y="3664801"/>
            <a:ext cx="689873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Centralização completa do atendimento, desde a abertura até o encerramento do ticket em tempo real.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68587" y="2749972"/>
            <a:ext cx="706698" cy="893826"/>
            <a:chOff x="0" y="0"/>
            <a:chExt cx="942264" cy="11917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2213" cy="1191768"/>
            </a:xfrm>
            <a:custGeom>
              <a:avLst/>
              <a:gdLst/>
              <a:ahLst/>
              <a:cxnLst/>
              <a:rect r="r" b="b" t="t" l="l"/>
              <a:pathLst>
                <a:path h="1191768" w="942213">
                  <a:moveTo>
                    <a:pt x="0" y="0"/>
                  </a:moveTo>
                  <a:lnTo>
                    <a:pt x="942213" y="0"/>
                  </a:lnTo>
                  <a:lnTo>
                    <a:pt x="942213" y="1191768"/>
                  </a:lnTo>
                  <a:lnTo>
                    <a:pt x="0" y="1191768"/>
                  </a:lnTo>
                  <a:close/>
                </a:path>
              </a:pathLst>
            </a:custGeom>
            <a:solidFill>
              <a:srgbClr val="004AAD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469603" y="3025435"/>
            <a:ext cx="250031" cy="285750"/>
            <a:chOff x="0" y="0"/>
            <a:chExt cx="333375" cy="38100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333375" cy="381000"/>
            </a:xfrm>
            <a:custGeom>
              <a:avLst/>
              <a:gdLst/>
              <a:ahLst/>
              <a:cxnLst/>
              <a:rect r="r" b="b" t="t" l="l"/>
              <a:pathLst>
                <a:path h="381000" w="333375">
                  <a:moveTo>
                    <a:pt x="0" y="0"/>
                  </a:moveTo>
                  <a:lnTo>
                    <a:pt x="333375" y="0"/>
                  </a:lnTo>
                  <a:lnTo>
                    <a:pt x="33337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80" t="0" r="-128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131009" y="3082585"/>
            <a:ext cx="6871059" cy="38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GESTÃO DE PRAZOS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31009" y="3664801"/>
            <a:ext cx="687105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Cálculo automático de SLAs de atendimento e resolução baseados na categoria do chamado.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67587" y="5160988"/>
            <a:ext cx="681076" cy="893826"/>
            <a:chOff x="0" y="0"/>
            <a:chExt cx="908101" cy="11917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08050" cy="1191768"/>
            </a:xfrm>
            <a:custGeom>
              <a:avLst/>
              <a:gdLst/>
              <a:ahLst/>
              <a:cxnLst/>
              <a:rect r="r" b="b" t="t" l="l"/>
              <a:pathLst>
                <a:path h="1191768" w="908050">
                  <a:moveTo>
                    <a:pt x="0" y="0"/>
                  </a:moveTo>
                  <a:lnTo>
                    <a:pt x="908050" y="0"/>
                  </a:lnTo>
                  <a:lnTo>
                    <a:pt x="908050" y="1191768"/>
                  </a:lnTo>
                  <a:lnTo>
                    <a:pt x="0" y="1191768"/>
                  </a:lnTo>
                  <a:close/>
                </a:path>
              </a:pathLst>
            </a:custGeom>
            <a:solidFill>
              <a:srgbClr val="004AAD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37846" y="5436451"/>
            <a:ext cx="285750" cy="285750"/>
            <a:chOff x="0" y="0"/>
            <a:chExt cx="381000" cy="3810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104225" y="5493601"/>
            <a:ext cx="6896900" cy="38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COMUNICAÇÃO DIRETA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04225" y="6075817"/>
            <a:ext cx="68969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Chat integrado com suporte a anexos (imagens/PDF), mantendo todo o histórico no próprio chamado.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68587" y="5160988"/>
            <a:ext cx="718528" cy="893826"/>
            <a:chOff x="0" y="0"/>
            <a:chExt cx="958037" cy="11917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58088" cy="1191768"/>
            </a:xfrm>
            <a:custGeom>
              <a:avLst/>
              <a:gdLst/>
              <a:ahLst/>
              <a:cxnLst/>
              <a:rect r="r" b="b" t="t" l="l"/>
              <a:pathLst>
                <a:path h="1191768" w="958088">
                  <a:moveTo>
                    <a:pt x="0" y="0"/>
                  </a:moveTo>
                  <a:lnTo>
                    <a:pt x="958088" y="0"/>
                  </a:lnTo>
                  <a:lnTo>
                    <a:pt x="958088" y="1191768"/>
                  </a:lnTo>
                  <a:lnTo>
                    <a:pt x="0" y="1191768"/>
                  </a:lnTo>
                  <a:close/>
                </a:path>
              </a:pathLst>
            </a:custGeom>
            <a:solidFill>
              <a:srgbClr val="004AAD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457763" y="5436451"/>
            <a:ext cx="285750" cy="285750"/>
            <a:chOff x="0" y="0"/>
            <a:chExt cx="381000" cy="381000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143011" y="5493601"/>
            <a:ext cx="6859114" cy="38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"/>
                <a:ea typeface="Montserrat"/>
                <a:cs typeface="Montserrat"/>
                <a:sym typeface="Montserrat"/>
              </a:rPr>
              <a:t>RASTREABILIDADE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43011" y="6075817"/>
            <a:ext cx="685911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Histórico completo de todas as atividades e alterações de status para auditoria e controle.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6918" y="401193"/>
            <a:ext cx="17314164" cy="8884539"/>
            <a:chOff x="0" y="0"/>
            <a:chExt cx="23085552" cy="118460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85552" cy="11846052"/>
            </a:xfrm>
            <a:custGeom>
              <a:avLst/>
              <a:gdLst/>
              <a:ahLst/>
              <a:cxnLst/>
              <a:rect r="r" b="b" t="t" l="l"/>
              <a:pathLst>
                <a:path h="11846052" w="23085552">
                  <a:moveTo>
                    <a:pt x="0" y="0"/>
                  </a:moveTo>
                  <a:lnTo>
                    <a:pt x="23085552" y="0"/>
                  </a:lnTo>
                  <a:lnTo>
                    <a:pt x="23085552" y="11846052"/>
                  </a:lnTo>
                  <a:lnTo>
                    <a:pt x="0" y="1184605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1345073"/>
            <a:ext cx="16002000" cy="62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45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FUNCIONALIDADES E PERFIS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24712" y="2508818"/>
            <a:ext cx="5180076" cy="5837301"/>
            <a:chOff x="0" y="0"/>
            <a:chExt cx="6906768" cy="7783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06768" cy="7783068"/>
            </a:xfrm>
            <a:custGeom>
              <a:avLst/>
              <a:gdLst/>
              <a:ahLst/>
              <a:cxnLst/>
              <a:rect r="r" b="b" t="t" l="l"/>
              <a:pathLst>
                <a:path h="7783068" w="6906768">
                  <a:moveTo>
                    <a:pt x="0" y="0"/>
                  </a:moveTo>
                  <a:lnTo>
                    <a:pt x="6906768" y="0"/>
                  </a:lnTo>
                  <a:lnTo>
                    <a:pt x="6906768" y="7783068"/>
                  </a:lnTo>
                  <a:lnTo>
                    <a:pt x="0" y="7783068"/>
                  </a:lnTo>
                  <a:close/>
                </a:path>
              </a:pathLst>
            </a:custGeom>
            <a:solidFill>
              <a:srgbClr val="F8F9FA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28750" y="3071812"/>
            <a:ext cx="350044" cy="400050"/>
            <a:chOff x="0" y="0"/>
            <a:chExt cx="466725" cy="5334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466725" cy="533400"/>
            </a:xfrm>
            <a:custGeom>
              <a:avLst/>
              <a:gdLst/>
              <a:ahLst/>
              <a:cxnLst/>
              <a:rect r="r" b="b" t="t" l="l"/>
              <a:pathLst>
                <a:path h="533400" w="466725">
                  <a:moveTo>
                    <a:pt x="0" y="0"/>
                  </a:moveTo>
                  <a:lnTo>
                    <a:pt x="466725" y="0"/>
                  </a:lnTo>
                  <a:lnTo>
                    <a:pt x="466725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08" t="0" r="-908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50244" y="3098606"/>
            <a:ext cx="1257300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00250" y="3949903"/>
            <a:ext cx="394335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Abertura de chamados com anexos.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00250" y="4360669"/>
            <a:ext cx="3943350" cy="54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Acompanhamento de status e prazos.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00250" y="5039325"/>
            <a:ext cx="394335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Interação via chat com o suporte.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00250" y="5450081"/>
            <a:ext cx="394335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Validação e fechamento da solução.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96812" y="2508818"/>
            <a:ext cx="5208651" cy="5837301"/>
            <a:chOff x="0" y="0"/>
            <a:chExt cx="6944868" cy="77830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4868" cy="7783068"/>
            </a:xfrm>
            <a:custGeom>
              <a:avLst/>
              <a:gdLst/>
              <a:ahLst/>
              <a:cxnLst/>
              <a:rect r="r" b="b" t="t" l="l"/>
              <a:pathLst>
                <a:path h="7783068" w="6944868">
                  <a:moveTo>
                    <a:pt x="0" y="0"/>
                  </a:moveTo>
                  <a:lnTo>
                    <a:pt x="6944868" y="0"/>
                  </a:lnTo>
                  <a:lnTo>
                    <a:pt x="6944868" y="7783068"/>
                  </a:lnTo>
                  <a:lnTo>
                    <a:pt x="0" y="7783068"/>
                  </a:lnTo>
                  <a:close/>
                </a:path>
              </a:pathLst>
            </a:custGeom>
            <a:solidFill>
              <a:srgbClr val="F8F9FA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29425" y="3071812"/>
            <a:ext cx="500062" cy="400050"/>
            <a:chOff x="0" y="0"/>
            <a:chExt cx="666750" cy="5334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500938" y="3098606"/>
            <a:ext cx="1418034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SUPORTE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0925" y="3949903"/>
            <a:ext cx="3971925" cy="54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Gestão de fila de chamados atribuídos.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00925" y="4628559"/>
            <a:ext cx="3971925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Controle de tempo de atendimento.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00925" y="5039325"/>
            <a:ext cx="3971925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Comunicação direta com o cliente.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00925" y="5450081"/>
            <a:ext cx="3971925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Atualização de status e resoluções.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26062" y="2508818"/>
            <a:ext cx="5237226" cy="5837301"/>
            <a:chOff x="0" y="0"/>
            <a:chExt cx="6982968" cy="77830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2968" cy="7783068"/>
            </a:xfrm>
            <a:custGeom>
              <a:avLst/>
              <a:gdLst/>
              <a:ahLst/>
              <a:cxnLst/>
              <a:rect r="r" b="b" t="t" l="l"/>
              <a:pathLst>
                <a:path h="7783068" w="6982968">
                  <a:moveTo>
                    <a:pt x="0" y="0"/>
                  </a:moveTo>
                  <a:lnTo>
                    <a:pt x="6982968" y="0"/>
                  </a:lnTo>
                  <a:lnTo>
                    <a:pt x="6982968" y="7783068"/>
                  </a:lnTo>
                  <a:lnTo>
                    <a:pt x="0" y="7783068"/>
                  </a:lnTo>
                  <a:close/>
                </a:path>
              </a:pathLst>
            </a:custGeom>
            <a:solidFill>
              <a:srgbClr val="F8F9FA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87250" y="3071812"/>
            <a:ext cx="500062" cy="400050"/>
            <a:chOff x="0" y="0"/>
            <a:chExt cx="666750" cy="5334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666750" cy="533400"/>
            </a:xfrm>
            <a:custGeom>
              <a:avLst/>
              <a:gdLst/>
              <a:ahLst/>
              <a:cxnLst/>
              <a:rect r="r" b="b" t="t" l="l"/>
              <a:pathLst>
                <a:path h="533400" w="666750">
                  <a:moveTo>
                    <a:pt x="0" y="0"/>
                  </a:moveTo>
                  <a:lnTo>
                    <a:pt x="666750" y="0"/>
                  </a:lnTo>
                  <a:lnTo>
                    <a:pt x="66675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958762" y="3098606"/>
            <a:ext cx="1046559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ADMIN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8750" y="3949903"/>
            <a:ext cx="4000500" cy="54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Gestão completa de usuários e perfis.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58750" y="4628559"/>
            <a:ext cx="400050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Configuração de categorias e SLAs.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58750" y="5039325"/>
            <a:ext cx="400050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Atribuição manual ou automática.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58750" y="5450081"/>
            <a:ext cx="400050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Visão analítica de toda a operação.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24712" y="8509568"/>
            <a:ext cx="7291054" cy="479489"/>
            <a:chOff x="0" y="0"/>
            <a:chExt cx="9721406" cy="63931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21342" cy="639318"/>
            </a:xfrm>
            <a:custGeom>
              <a:avLst/>
              <a:gdLst/>
              <a:ahLst/>
              <a:cxnLst/>
              <a:rect r="r" b="b" t="t" l="l"/>
              <a:pathLst>
                <a:path h="639318" w="9721342">
                  <a:moveTo>
                    <a:pt x="0" y="0"/>
                  </a:moveTo>
                  <a:lnTo>
                    <a:pt x="9721342" y="0"/>
                  </a:lnTo>
                  <a:lnTo>
                    <a:pt x="9721342" y="639318"/>
                  </a:lnTo>
                  <a:lnTo>
                    <a:pt x="0" y="639318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0"/>
            </a:gra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57312" y="8688591"/>
            <a:ext cx="200025" cy="200025"/>
            <a:chOff x="0" y="0"/>
            <a:chExt cx="266700" cy="26670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571" r="0" b="-3571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557338" y="8670722"/>
            <a:ext cx="6568678" cy="242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DASHBOARD COM MÉTRICAS OPERACIONAIS EM TEMPO REAL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2606" y="544068"/>
            <a:ext cx="17742789" cy="8455914"/>
            <a:chOff x="0" y="0"/>
            <a:chExt cx="23657052" cy="11274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7052" cy="11274552"/>
            </a:xfrm>
            <a:custGeom>
              <a:avLst/>
              <a:gdLst/>
              <a:ahLst/>
              <a:cxnLst/>
              <a:rect r="r" b="b" t="t" l="l"/>
              <a:pathLst>
                <a:path h="11274552" w="23657052">
                  <a:moveTo>
                    <a:pt x="0" y="0"/>
                  </a:moveTo>
                  <a:lnTo>
                    <a:pt x="23657052" y="0"/>
                  </a:lnTo>
                  <a:lnTo>
                    <a:pt x="23657052" y="11274552"/>
                  </a:lnTo>
                  <a:lnTo>
                    <a:pt x="0" y="1127455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28688" y="1631004"/>
            <a:ext cx="16430625" cy="79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49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FLUXO DE ATENDIMENTO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0400" y="3178597"/>
            <a:ext cx="3554873" cy="5051488"/>
            <a:chOff x="0" y="0"/>
            <a:chExt cx="4739830" cy="673531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39767" cy="6735318"/>
            </a:xfrm>
            <a:custGeom>
              <a:avLst/>
              <a:gdLst/>
              <a:ahLst/>
              <a:cxnLst/>
              <a:rect r="r" b="b" t="t" l="l"/>
              <a:pathLst>
                <a:path h="6735318" w="4739767">
                  <a:moveTo>
                    <a:pt x="0" y="0"/>
                  </a:moveTo>
                  <a:lnTo>
                    <a:pt x="4739767" y="0"/>
                  </a:lnTo>
                  <a:lnTo>
                    <a:pt x="4739767" y="6735318"/>
                  </a:lnTo>
                  <a:lnTo>
                    <a:pt x="0" y="6735318"/>
                  </a:lnTo>
                  <a:close/>
                </a:path>
              </a:pathLst>
            </a:custGeom>
            <a:solidFill>
              <a:srgbClr val="F9F9F9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96150" y="2892847"/>
            <a:ext cx="693801" cy="693801"/>
            <a:chOff x="0" y="0"/>
            <a:chExt cx="925068" cy="9250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068" cy="925068"/>
            </a:xfrm>
            <a:custGeom>
              <a:avLst/>
              <a:gdLst/>
              <a:ahLst/>
              <a:cxnLst/>
              <a:rect r="r" b="b" t="t" l="l"/>
              <a:pathLst>
                <a:path h="925068" w="925068">
                  <a:moveTo>
                    <a:pt x="0" y="0"/>
                  </a:moveTo>
                  <a:lnTo>
                    <a:pt x="925068" y="0"/>
                  </a:lnTo>
                  <a:lnTo>
                    <a:pt x="925068" y="925068"/>
                  </a:lnTo>
                  <a:lnTo>
                    <a:pt x="0" y="925068"/>
                  </a:lnTo>
                  <a:close/>
                </a:path>
              </a:pathLst>
            </a:custGeom>
            <a:solidFill>
              <a:srgbClr val="FFBE0B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14438" y="2911135"/>
            <a:ext cx="657225" cy="657225"/>
            <a:chOff x="0" y="0"/>
            <a:chExt cx="876300" cy="876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76301" cy="876301"/>
            </a:xfrm>
            <a:custGeom>
              <a:avLst/>
              <a:gdLst/>
              <a:ahLst/>
              <a:cxnLst/>
              <a:rect r="r" b="b" t="t" l="l"/>
              <a:pathLst>
                <a:path h="876301" w="876301">
                  <a:moveTo>
                    <a:pt x="0" y="0"/>
                  </a:moveTo>
                  <a:lnTo>
                    <a:pt x="876301" y="0"/>
                  </a:lnTo>
                  <a:lnTo>
                    <a:pt x="876301" y="876301"/>
                  </a:lnTo>
                  <a:lnTo>
                    <a:pt x="0" y="876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8763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B2D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4438" y="3554073"/>
            <a:ext cx="2882503" cy="457200"/>
            <a:chOff x="0" y="0"/>
            <a:chExt cx="3843338" cy="6096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843401" cy="609600"/>
            </a:xfrm>
            <a:custGeom>
              <a:avLst/>
              <a:gdLst/>
              <a:ahLst/>
              <a:cxnLst/>
              <a:rect r="r" b="b" t="t" l="l"/>
              <a:pathLst>
                <a:path h="609600" w="3843401">
                  <a:moveTo>
                    <a:pt x="0" y="0"/>
                  </a:moveTo>
                  <a:lnTo>
                    <a:pt x="3843401" y="0"/>
                  </a:lnTo>
                  <a:lnTo>
                    <a:pt x="384340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1" t="0" r="-6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14438" y="4225585"/>
            <a:ext cx="2882503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ABERTURA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4438" y="4686357"/>
            <a:ext cx="2882503" cy="130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O cliente registra o chamado definindo título, descrição, categoria e prioridade.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4668441" y="5197135"/>
            <a:ext cx="214312" cy="342900"/>
            <a:chOff x="0" y="0"/>
            <a:chExt cx="285750" cy="457200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62" t="0" r="-1066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150215" y="3178597"/>
            <a:ext cx="3576304" cy="5051488"/>
            <a:chOff x="0" y="0"/>
            <a:chExt cx="4768406" cy="67353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68342" cy="6735318"/>
            </a:xfrm>
            <a:custGeom>
              <a:avLst/>
              <a:gdLst/>
              <a:ahLst/>
              <a:cxnLst/>
              <a:rect r="r" b="b" t="t" l="l"/>
              <a:pathLst>
                <a:path h="6735318" w="4768342">
                  <a:moveTo>
                    <a:pt x="0" y="0"/>
                  </a:moveTo>
                  <a:lnTo>
                    <a:pt x="4768342" y="0"/>
                  </a:lnTo>
                  <a:lnTo>
                    <a:pt x="4768342" y="6735318"/>
                  </a:lnTo>
                  <a:lnTo>
                    <a:pt x="0" y="6735318"/>
                  </a:lnTo>
                  <a:close/>
                </a:path>
              </a:pathLst>
            </a:custGeom>
            <a:solidFill>
              <a:srgbClr val="F9F9F9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457396" y="2892847"/>
            <a:ext cx="693801" cy="693801"/>
            <a:chOff x="0" y="0"/>
            <a:chExt cx="925068" cy="9250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25068" cy="925068"/>
            </a:xfrm>
            <a:custGeom>
              <a:avLst/>
              <a:gdLst/>
              <a:ahLst/>
              <a:cxnLst/>
              <a:rect r="r" b="b" t="t" l="l"/>
              <a:pathLst>
                <a:path h="925068" w="925068">
                  <a:moveTo>
                    <a:pt x="0" y="0"/>
                  </a:moveTo>
                  <a:lnTo>
                    <a:pt x="925068" y="0"/>
                  </a:lnTo>
                  <a:lnTo>
                    <a:pt x="925068" y="925068"/>
                  </a:lnTo>
                  <a:lnTo>
                    <a:pt x="0" y="925068"/>
                  </a:lnTo>
                  <a:close/>
                </a:path>
              </a:pathLst>
            </a:custGeom>
            <a:solidFill>
              <a:srgbClr val="FFBE0B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475684" y="2911135"/>
            <a:ext cx="657225" cy="657225"/>
            <a:chOff x="0" y="0"/>
            <a:chExt cx="876300" cy="876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6301" cy="876301"/>
            </a:xfrm>
            <a:custGeom>
              <a:avLst/>
              <a:gdLst/>
              <a:ahLst/>
              <a:cxnLst/>
              <a:rect r="r" b="b" t="t" l="l"/>
              <a:pathLst>
                <a:path h="876301" w="876301">
                  <a:moveTo>
                    <a:pt x="0" y="0"/>
                  </a:moveTo>
                  <a:lnTo>
                    <a:pt x="876301" y="0"/>
                  </a:lnTo>
                  <a:lnTo>
                    <a:pt x="876301" y="876301"/>
                  </a:lnTo>
                  <a:lnTo>
                    <a:pt x="0" y="876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763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B2D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475684" y="3554073"/>
            <a:ext cx="2903934" cy="457200"/>
            <a:chOff x="0" y="0"/>
            <a:chExt cx="3871912" cy="609600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3871849" cy="609600"/>
            </a:xfrm>
            <a:custGeom>
              <a:avLst/>
              <a:gdLst/>
              <a:ahLst/>
              <a:cxnLst/>
              <a:rect r="r" b="b" t="t" l="l"/>
              <a:pathLst>
                <a:path h="609600" w="3871849">
                  <a:moveTo>
                    <a:pt x="0" y="0"/>
                  </a:moveTo>
                  <a:lnTo>
                    <a:pt x="3871849" y="0"/>
                  </a:lnTo>
                  <a:lnTo>
                    <a:pt x="387184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718" r="-1" b="-718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5475684" y="4225585"/>
            <a:ext cx="2903934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ATRIBUIÇÃO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75684" y="4686357"/>
            <a:ext cx="2903934" cy="130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O administrador ou técnico assume o ticket, definindo o responsável pelo atendimento.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8951119" y="5197135"/>
            <a:ext cx="214312" cy="342900"/>
            <a:chOff x="0" y="0"/>
            <a:chExt cx="285750" cy="45720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62" t="0" r="-1066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432893" y="3178597"/>
            <a:ext cx="3597735" cy="5051488"/>
            <a:chOff x="0" y="0"/>
            <a:chExt cx="4796980" cy="67353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797044" cy="6735318"/>
            </a:xfrm>
            <a:custGeom>
              <a:avLst/>
              <a:gdLst/>
              <a:ahLst/>
              <a:cxnLst/>
              <a:rect r="r" b="b" t="t" l="l"/>
              <a:pathLst>
                <a:path h="6735318" w="4797044">
                  <a:moveTo>
                    <a:pt x="0" y="0"/>
                  </a:moveTo>
                  <a:lnTo>
                    <a:pt x="4797044" y="0"/>
                  </a:lnTo>
                  <a:lnTo>
                    <a:pt x="4797044" y="6735318"/>
                  </a:lnTo>
                  <a:lnTo>
                    <a:pt x="0" y="6735318"/>
                  </a:lnTo>
                  <a:close/>
                </a:path>
              </a:pathLst>
            </a:custGeom>
            <a:solidFill>
              <a:srgbClr val="F9F9F9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761506" y="2892847"/>
            <a:ext cx="693801" cy="693801"/>
            <a:chOff x="0" y="0"/>
            <a:chExt cx="925068" cy="9250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25068" cy="925068"/>
            </a:xfrm>
            <a:custGeom>
              <a:avLst/>
              <a:gdLst/>
              <a:ahLst/>
              <a:cxnLst/>
              <a:rect r="r" b="b" t="t" l="l"/>
              <a:pathLst>
                <a:path h="925068" w="925068">
                  <a:moveTo>
                    <a:pt x="0" y="0"/>
                  </a:moveTo>
                  <a:lnTo>
                    <a:pt x="925068" y="0"/>
                  </a:lnTo>
                  <a:lnTo>
                    <a:pt x="925068" y="925068"/>
                  </a:lnTo>
                  <a:lnTo>
                    <a:pt x="0" y="925068"/>
                  </a:lnTo>
                  <a:close/>
                </a:path>
              </a:pathLst>
            </a:custGeom>
            <a:solidFill>
              <a:srgbClr val="FFBE0B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779794" y="2911135"/>
            <a:ext cx="657225" cy="657225"/>
            <a:chOff x="0" y="0"/>
            <a:chExt cx="876300" cy="8763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76301" cy="876301"/>
            </a:xfrm>
            <a:custGeom>
              <a:avLst/>
              <a:gdLst/>
              <a:ahLst/>
              <a:cxnLst/>
              <a:rect r="r" b="b" t="t" l="l"/>
              <a:pathLst>
                <a:path h="876301" w="876301">
                  <a:moveTo>
                    <a:pt x="0" y="0"/>
                  </a:moveTo>
                  <a:lnTo>
                    <a:pt x="876301" y="0"/>
                  </a:lnTo>
                  <a:lnTo>
                    <a:pt x="876301" y="876301"/>
                  </a:lnTo>
                  <a:lnTo>
                    <a:pt x="0" y="876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8763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B2D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79794" y="3554073"/>
            <a:ext cx="2925366" cy="457200"/>
            <a:chOff x="0" y="0"/>
            <a:chExt cx="3900488" cy="609600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900551" cy="609600"/>
            </a:xfrm>
            <a:custGeom>
              <a:avLst/>
              <a:gdLst/>
              <a:ahLst/>
              <a:cxnLst/>
              <a:rect r="r" b="b" t="t" l="l"/>
              <a:pathLst>
                <a:path h="609600" w="3900551">
                  <a:moveTo>
                    <a:pt x="0" y="0"/>
                  </a:moveTo>
                  <a:lnTo>
                    <a:pt x="3900551" y="0"/>
                  </a:lnTo>
                  <a:lnTo>
                    <a:pt x="3900551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718" r="1" b="-72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779794" y="4225585"/>
            <a:ext cx="2925366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EXECUÇÃO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79794" y="4686357"/>
            <a:ext cx="2925366" cy="98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O técnico inicia o trabalho e interage com o cliente via chat interno com anexos.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3276659" y="5197135"/>
            <a:ext cx="214312" cy="342900"/>
            <a:chOff x="0" y="0"/>
            <a:chExt cx="285750" cy="457200"/>
          </a:xfrm>
        </p:grpSpPr>
        <p:sp>
          <p:nvSpPr>
            <p:cNvPr name="Freeform 45" id="45" descr="preencoded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062" t="0" r="-1066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758434" y="3178597"/>
            <a:ext cx="3619167" cy="5051488"/>
            <a:chOff x="0" y="0"/>
            <a:chExt cx="4825556" cy="673531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825492" cy="6735318"/>
            </a:xfrm>
            <a:custGeom>
              <a:avLst/>
              <a:gdLst/>
              <a:ahLst/>
              <a:cxnLst/>
              <a:rect r="r" b="b" t="t" l="l"/>
              <a:pathLst>
                <a:path h="6735318" w="4825492">
                  <a:moveTo>
                    <a:pt x="0" y="0"/>
                  </a:moveTo>
                  <a:lnTo>
                    <a:pt x="4825492" y="0"/>
                  </a:lnTo>
                  <a:lnTo>
                    <a:pt x="4825492" y="6735318"/>
                  </a:lnTo>
                  <a:lnTo>
                    <a:pt x="0" y="6735318"/>
                  </a:lnTo>
                  <a:close/>
                </a:path>
              </a:pathLst>
            </a:custGeom>
            <a:solidFill>
              <a:srgbClr val="F9F9F9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108478" y="2892847"/>
            <a:ext cx="693801" cy="693801"/>
            <a:chOff x="0" y="0"/>
            <a:chExt cx="925068" cy="9250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5068" cy="925068"/>
            </a:xfrm>
            <a:custGeom>
              <a:avLst/>
              <a:gdLst/>
              <a:ahLst/>
              <a:cxnLst/>
              <a:rect r="r" b="b" t="t" l="l"/>
              <a:pathLst>
                <a:path h="925068" w="925068">
                  <a:moveTo>
                    <a:pt x="0" y="0"/>
                  </a:moveTo>
                  <a:lnTo>
                    <a:pt x="925068" y="0"/>
                  </a:lnTo>
                  <a:lnTo>
                    <a:pt x="925068" y="925068"/>
                  </a:lnTo>
                  <a:lnTo>
                    <a:pt x="0" y="925068"/>
                  </a:lnTo>
                  <a:close/>
                </a:path>
              </a:pathLst>
            </a:custGeom>
            <a:solidFill>
              <a:srgbClr val="FFBE0B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126766" y="2911135"/>
            <a:ext cx="657225" cy="657225"/>
            <a:chOff x="0" y="0"/>
            <a:chExt cx="876300" cy="8763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76301" cy="876301"/>
            </a:xfrm>
            <a:custGeom>
              <a:avLst/>
              <a:gdLst/>
              <a:ahLst/>
              <a:cxnLst/>
              <a:rect r="r" b="b" t="t" l="l"/>
              <a:pathLst>
                <a:path h="876301" w="876301">
                  <a:moveTo>
                    <a:pt x="0" y="0"/>
                  </a:moveTo>
                  <a:lnTo>
                    <a:pt x="876301" y="0"/>
                  </a:lnTo>
                  <a:lnTo>
                    <a:pt x="876301" y="876301"/>
                  </a:lnTo>
                  <a:lnTo>
                    <a:pt x="0" y="876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8763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2B2D4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126766" y="3554073"/>
            <a:ext cx="2946797" cy="457200"/>
            <a:chOff x="0" y="0"/>
            <a:chExt cx="3929062" cy="60960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3928999" cy="609600"/>
            </a:xfrm>
            <a:custGeom>
              <a:avLst/>
              <a:gdLst/>
              <a:ahLst/>
              <a:cxnLst/>
              <a:rect r="r" b="b" t="t" l="l"/>
              <a:pathLst>
                <a:path h="609600" w="3928999">
                  <a:moveTo>
                    <a:pt x="0" y="0"/>
                  </a:moveTo>
                  <a:lnTo>
                    <a:pt x="3928999" y="0"/>
                  </a:lnTo>
                  <a:lnTo>
                    <a:pt x="392899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500" r="-1" b="-1499"/>
              </a:stretch>
            </a:blip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14126766" y="4225585"/>
            <a:ext cx="2946797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126766" y="4686357"/>
            <a:ext cx="2946797" cy="98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4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O cliente valida a solução para o fechamento definitivo ou solicita reabertura.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9793" y="401193"/>
            <a:ext cx="17028414" cy="8884539"/>
            <a:chOff x="0" y="0"/>
            <a:chExt cx="22704552" cy="118460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04552" cy="11846052"/>
            </a:xfrm>
            <a:custGeom>
              <a:avLst/>
              <a:gdLst/>
              <a:ahLst/>
              <a:cxnLst/>
              <a:rect r="r" b="b" t="t" l="l"/>
              <a:pathLst>
                <a:path h="11846052" w="22704552">
                  <a:moveTo>
                    <a:pt x="0" y="0"/>
                  </a:moveTo>
                  <a:lnTo>
                    <a:pt x="22704552" y="0"/>
                  </a:lnTo>
                  <a:lnTo>
                    <a:pt x="22704552" y="11846052"/>
                  </a:lnTo>
                  <a:lnTo>
                    <a:pt x="0" y="1184605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85875" y="1316403"/>
            <a:ext cx="15716250" cy="60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42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POR QUE SOMOS A MELHOR ESCOLHA?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67587" y="2458250"/>
            <a:ext cx="7680388" cy="5837301"/>
            <a:chOff x="0" y="0"/>
            <a:chExt cx="10240518" cy="77830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40518" cy="7783068"/>
            </a:xfrm>
            <a:custGeom>
              <a:avLst/>
              <a:gdLst/>
              <a:ahLst/>
              <a:cxnLst/>
              <a:rect r="r" b="b" t="t" l="l"/>
              <a:pathLst>
                <a:path h="7783068" w="10240518">
                  <a:moveTo>
                    <a:pt x="0" y="0"/>
                  </a:moveTo>
                  <a:lnTo>
                    <a:pt x="10240518" y="0"/>
                  </a:lnTo>
                  <a:lnTo>
                    <a:pt x="10240518" y="7783068"/>
                  </a:lnTo>
                  <a:lnTo>
                    <a:pt x="0" y="7783068"/>
                  </a:lnTo>
                  <a:close/>
                </a:path>
              </a:pathLst>
            </a:custGeom>
            <a:solidFill>
              <a:srgbClr val="F0F0F0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571625" y="2792644"/>
            <a:ext cx="285750" cy="285750"/>
            <a:chOff x="0" y="0"/>
            <a:chExt cx="381000" cy="3810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00" r="0" b="-250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028825" y="2762288"/>
            <a:ext cx="3496866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GLPI / JIRA / MOVIDESK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143125" y="3394510"/>
            <a:ext cx="228600" cy="228600"/>
            <a:chOff x="0" y="0"/>
            <a:chExt cx="304800" cy="3048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125" r="0" b="-312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514600" y="3318310"/>
            <a:ext cx="1521619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Complexidade: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6219" y="3327835"/>
            <a:ext cx="4607719" cy="545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Centenas de abas e menus inúteis para PMEs.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143125" y="4101741"/>
            <a:ext cx="228600" cy="228600"/>
            <a:chOff x="0" y="0"/>
            <a:chExt cx="304800" cy="3048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514600" y="4025541"/>
            <a:ext cx="653653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Custo: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68253" y="4035066"/>
            <a:ext cx="4518422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Licenciamento caro ou implantação pesada.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143125" y="4558941"/>
            <a:ext cx="228600" cy="228600"/>
            <a:chOff x="0" y="0"/>
            <a:chExt cx="304800" cy="3048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514600" y="4482741"/>
            <a:ext cx="1339453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Treinamento: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54053" y="4492266"/>
            <a:ext cx="3921919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Exige semanas para a equipe dominar.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143125" y="5016141"/>
            <a:ext cx="228600" cy="228600"/>
            <a:chOff x="0" y="0"/>
            <a:chExt cx="304800" cy="3048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125" r="0" b="-3125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514600" y="4939941"/>
            <a:ext cx="942975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Lentidão: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457575" y="4949466"/>
            <a:ext cx="4471988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Sistemas pesados que atrasam a operação.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40024" y="2458250"/>
            <a:ext cx="7680388" cy="5837301"/>
            <a:chOff x="0" y="0"/>
            <a:chExt cx="10240518" cy="77830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0518" cy="7783068"/>
            </a:xfrm>
            <a:custGeom>
              <a:avLst/>
              <a:gdLst/>
              <a:ahLst/>
              <a:cxnLst/>
              <a:rect r="r" b="b" t="t" l="l"/>
              <a:pathLst>
                <a:path h="7783068" w="10240518">
                  <a:moveTo>
                    <a:pt x="0" y="0"/>
                  </a:moveTo>
                  <a:lnTo>
                    <a:pt x="10240518" y="0"/>
                  </a:lnTo>
                  <a:lnTo>
                    <a:pt x="10240518" y="7783068"/>
                  </a:lnTo>
                  <a:lnTo>
                    <a:pt x="0" y="7783068"/>
                  </a:lnTo>
                  <a:close/>
                </a:path>
              </a:pathLst>
            </a:custGeom>
            <a:solidFill>
              <a:srgbClr val="F8F9FA"/>
            </a:solidFill>
            <a:ln w="36576" cap="sq">
              <a:solidFill>
                <a:srgbClr val="8338E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44062" y="2792644"/>
            <a:ext cx="285750" cy="285750"/>
            <a:chOff x="0" y="0"/>
            <a:chExt cx="381000" cy="38100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500" r="0" b="-250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01262" y="2762288"/>
            <a:ext cx="2843212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NOSSO HELP DESK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215562" y="3394510"/>
            <a:ext cx="228600" cy="228600"/>
            <a:chOff x="0" y="0"/>
            <a:chExt cx="304800" cy="304800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25" r="0" b="-3125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587038" y="3318310"/>
            <a:ext cx="1639491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Direto ao Ponto: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26528" y="3327835"/>
            <a:ext cx="3986212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Apenas o que o suporte realmente usa.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215562" y="3851710"/>
            <a:ext cx="228600" cy="228600"/>
            <a:chOff x="0" y="0"/>
            <a:chExt cx="304800" cy="304800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25" r="0" b="-3125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587038" y="3775510"/>
            <a:ext cx="1168003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Curva Zero: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755041" y="3785035"/>
            <a:ext cx="4289822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Cliente e técnico aprendem em 5 minutos.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215562" y="4308910"/>
            <a:ext cx="228600" cy="228600"/>
            <a:chOff x="0" y="0"/>
            <a:chExt cx="304800" cy="304800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25" r="0" b="-3125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0587038" y="4232710"/>
            <a:ext cx="771525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Leveza: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58562" y="4242235"/>
            <a:ext cx="4250531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Interface moderna e rápida (React + Vite).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215562" y="4766110"/>
            <a:ext cx="228600" cy="228600"/>
            <a:chOff x="0" y="0"/>
            <a:chExt cx="304800" cy="3048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125" r="0" b="-3125"/>
              </a:stretch>
            </a:blip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587038" y="4689910"/>
            <a:ext cx="1643062" cy="286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 b="true">
                <a:solidFill>
                  <a:srgbClr val="2B2D42"/>
                </a:solidFill>
                <a:latin typeface="Roboto Bold"/>
                <a:ea typeface="Roboto Bold"/>
                <a:cs typeface="Roboto Bold"/>
                <a:sym typeface="Roboto Bold"/>
              </a:rPr>
              <a:t>Foco no Cliente: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30100" y="4699435"/>
            <a:ext cx="3714750" cy="27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Experiência de chat intuitiva e fluida.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67587" y="8459000"/>
            <a:ext cx="15752826" cy="550926"/>
            <a:chOff x="0" y="0"/>
            <a:chExt cx="21003768" cy="73456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003768" cy="734568"/>
            </a:xfrm>
            <a:custGeom>
              <a:avLst/>
              <a:gdLst/>
              <a:ahLst/>
              <a:cxnLst/>
              <a:rect r="r" b="b" t="t" l="l"/>
              <a:pathLst>
                <a:path h="734568" w="21003768">
                  <a:moveTo>
                    <a:pt x="0" y="0"/>
                  </a:moveTo>
                  <a:lnTo>
                    <a:pt x="21003768" y="0"/>
                  </a:lnTo>
                  <a:lnTo>
                    <a:pt x="21003768" y="734568"/>
                  </a:lnTo>
                  <a:lnTo>
                    <a:pt x="0" y="734568"/>
                  </a:lnTo>
                  <a:close/>
                </a:path>
              </a:pathLst>
            </a:custGeom>
            <a:solidFill>
              <a:srgbClr val="FFBE0B"/>
            </a:solidFill>
            <a:ln w="36576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285875" y="8562375"/>
            <a:ext cx="15716250" cy="42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MENOS BUROCRACIA, MAIS RESOLUÇÃO. O ESSENCIAL COM MÁXIMA EFICIÊNCIA.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29793" y="401193"/>
            <a:ext cx="17028414" cy="9632290"/>
            <a:chOff x="0" y="0"/>
            <a:chExt cx="22704552" cy="128430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704552" cy="12843002"/>
            </a:xfrm>
            <a:custGeom>
              <a:avLst/>
              <a:gdLst/>
              <a:ahLst/>
              <a:cxnLst/>
              <a:rect r="r" b="b" t="t" l="l"/>
              <a:pathLst>
                <a:path h="12843002" w="22704552">
                  <a:moveTo>
                    <a:pt x="0" y="0"/>
                  </a:moveTo>
                  <a:lnTo>
                    <a:pt x="22704552" y="0"/>
                  </a:lnTo>
                  <a:lnTo>
                    <a:pt x="22704552" y="12843002"/>
                  </a:lnTo>
                  <a:lnTo>
                    <a:pt x="0" y="12843002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85875" y="1316403"/>
            <a:ext cx="14486632" cy="5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5"/>
              </a:lnSpc>
            </a:pPr>
            <a:r>
              <a:rPr lang="en-US" sz="42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ESTIMATIVA DE </a:t>
            </a:r>
            <a:r>
              <a:rPr lang="en-US" sz="42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VIABILIDADE E MONETIZAÇÃO (2026)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14488" y="3094587"/>
            <a:ext cx="235744" cy="314325"/>
            <a:chOff x="0" y="0"/>
            <a:chExt cx="314325" cy="41910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14325" cy="419100"/>
            </a:xfrm>
            <a:custGeom>
              <a:avLst/>
              <a:gdLst/>
              <a:ahLst/>
              <a:cxnLst/>
              <a:rect r="r" b="b" t="t" l="l"/>
              <a:pathLst>
                <a:path h="419100" w="314325">
                  <a:moveTo>
                    <a:pt x="0" y="0"/>
                  </a:moveTo>
                  <a:lnTo>
                    <a:pt x="314325" y="0"/>
                  </a:lnTo>
                  <a:lnTo>
                    <a:pt x="31432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36" r="0" b="-113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50231" y="3066012"/>
            <a:ext cx="503277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CUSTOS OPERACIONAIS (MÊS)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4488" y="3652990"/>
            <a:ext cx="1857375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Servidor (Cloud)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15238" y="3761337"/>
            <a:ext cx="139986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R$ 100,00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488" y="4256637"/>
            <a:ext cx="3003947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Banco de Dados Managed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15238" y="4256637"/>
            <a:ext cx="98583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R$100,00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14488" y="4860284"/>
            <a:ext cx="1668066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Domínio e SSL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15238" y="4860284"/>
            <a:ext cx="98583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R$ 40,00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4488" y="5525843"/>
            <a:ext cx="698658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Total Estimado: R$ 240,00 /mês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86925" y="3094587"/>
            <a:ext cx="235744" cy="314325"/>
            <a:chOff x="0" y="0"/>
            <a:chExt cx="314325" cy="4191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314325" cy="419100"/>
            </a:xfrm>
            <a:custGeom>
              <a:avLst/>
              <a:gdLst/>
              <a:ahLst/>
              <a:cxnLst/>
              <a:rect r="r" b="b" t="t" l="l"/>
              <a:pathLst>
                <a:path h="419100" w="314325">
                  <a:moveTo>
                    <a:pt x="0" y="0"/>
                  </a:moveTo>
                  <a:lnTo>
                    <a:pt x="314325" y="0"/>
                  </a:lnTo>
                  <a:lnTo>
                    <a:pt x="314325" y="419100"/>
                  </a:lnTo>
                  <a:lnTo>
                    <a:pt x="0" y="41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136" r="0" b="-113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922669" y="3066012"/>
            <a:ext cx="5775722" cy="38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RECEITA ESTIMADA (POR CLIENTE)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86925" y="3652990"/>
            <a:ext cx="3507581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Fatura Mensal Suporte/Manut.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44800" y="3652990"/>
            <a:ext cx="11287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R$ 500,00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86925" y="4256637"/>
            <a:ext cx="2511028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Taxa de Setup (Única)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34059" y="4256637"/>
            <a:ext cx="1339453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R$ 2.000,00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86925" y="4860284"/>
            <a:ext cx="2857500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Hospedagem Repassada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44800" y="4860284"/>
            <a:ext cx="1128712" cy="313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R$ 250,00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76552" y="2307460"/>
            <a:ext cx="11734895" cy="5672080"/>
            <a:chOff x="0" y="0"/>
            <a:chExt cx="15646527" cy="75627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46527" cy="7562723"/>
            </a:xfrm>
            <a:custGeom>
              <a:avLst/>
              <a:gdLst/>
              <a:ahLst/>
              <a:cxnLst/>
              <a:rect r="r" b="b" t="t" l="l"/>
              <a:pathLst>
                <a:path h="7562723" w="15646527">
                  <a:moveTo>
                    <a:pt x="0" y="0"/>
                  </a:moveTo>
                  <a:lnTo>
                    <a:pt x="15646527" y="0"/>
                  </a:lnTo>
                  <a:lnTo>
                    <a:pt x="15646527" y="7562723"/>
                  </a:lnTo>
                  <a:lnTo>
                    <a:pt x="0" y="7562723"/>
                  </a:lnTo>
                  <a:close/>
                </a:path>
              </a:pathLst>
            </a:custGeom>
            <a:solidFill>
              <a:srgbClr val="FFFFFF"/>
            </a:solidFill>
            <a:ln w="54864" cap="sq">
              <a:solidFill>
                <a:srgbClr val="2B2D42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6187380" y="4205564"/>
            <a:ext cx="5913239" cy="107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7"/>
              </a:lnSpc>
            </a:pPr>
            <a:r>
              <a:rPr lang="en-US" sz="83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HELPDESK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32634" y="5880421"/>
            <a:ext cx="10422731" cy="55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2B2D42"/>
                </a:solidFill>
                <a:latin typeface="Montserrat"/>
                <a:ea typeface="Montserrat"/>
                <a:cs typeface="Montserrat"/>
                <a:sym typeface="Montserrat"/>
              </a:rPr>
              <a:t>SISTEMA DE GESTÃO DE SUPORTE TÉCNICO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25766" y="6825491"/>
            <a:ext cx="603646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>
                <a:solidFill>
                  <a:srgbClr val="2B2D42"/>
                </a:solidFill>
                <a:latin typeface="Roboto"/>
                <a:ea typeface="Roboto"/>
                <a:cs typeface="Roboto"/>
                <a:sym typeface="Roboto"/>
              </a:rPr>
              <a:t>Gustavo Marcolin Soares | Anderson Cirino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DAHMRb5oe9o</dc:identifier>
  <dcterms:modified xsi:type="dcterms:W3CDTF">2011-08-01T06:04:30Z</dcterms:modified>
  <cp:revision>1</cp:revision>
  <dc:title>HelpDesk_-_Gestão_de_Suporte_Técnico_(TCC_TADS).pptx</dc:title>
</cp:coreProperties>
</file>